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0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mohamadsky1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7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EUROPE · GROUP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61,672 people died from heat across Europe
in summer 2022 alone.
</a:t>
            </a:r>
            <a:r>
              <a:rPr lang="en-US" sz="2900" b="1" dirty="0">
                <a:solidFill>
                  <a:srgbClr val="D8D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wheelchair users, there's still nowhere to cool down.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Ballester et al., Nature Medicine (2023)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CoolWheels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4748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 cooling stations for wheelchair users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Reinrollen. Abkühlen. Weiterfahren.</a:t>
            </a:r>
            <a:endParaRPr lang="en-US" sz="1500" dirty="0"/>
          </a:p>
        </p:txBody>
      </p:sp>
      <p:pic>
        <p:nvPicPr>
          <p:cNvPr id="7" name="Image 0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548640"/>
            <a:ext cx="4434840" cy="576072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CUSTOMER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Heatwaves are intensifying, and Europe's wheelchair users have no accessible place to cool down.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61,672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heat-related deaths across Europe, summer 2022 alone.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Ballester et al., “Heat-related mortality in Europe during the summer of 2022,” Nature Medicine (2023)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965960"/>
            <a:ext cx="0" cy="210312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920240"/>
            <a:ext cx="457200" cy="45720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8745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&amp; overheating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2311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wheelchair batteries and joystick controllers overheat and drain faster in direct sun.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0" y="2926080"/>
            <a:ext cx="457200" cy="45720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880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that can't be reached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23697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shaded rest points are often blocked by high curbs or lack wheelchair clearance.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457200" cy="45720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8862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plan around it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424281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reliably plan routes around where they can rest or recharge during a heatwave.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0607040" cy="868680"/>
          </a:xfrm>
          <a:prstGeom prst="rect">
            <a:avLst/>
          </a:prstGeom>
          <a:solidFill>
            <a:srgbClr val="EFE4C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“Battery packs drain faster and overheat under direct sun, joystick controllers become hot to use.”  </a:t>
            </a:r>
            <a:r>
              <a:rPr lang="en-US" sz="125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Lucas, electric wheelchair user (Group 5 interview)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CoolWheels gives wheelchair users a shaded, misted, solar-powered place to rest and recharge.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install accessible cooling pods along the wheelchair routes people already use — unlocked only by an existing municipal accessibility credential.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095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 + misting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538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shade with an active misting fan for immediate relief.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9593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charging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288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Insulated outlet for electric wheelchairs and mobility aids.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☉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038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 panels power the pod directly — no grid connection needed.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95544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495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458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Austria / CityGraz entry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788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with an existing municipal accessibility credential.</a:t>
            </a:r>
            <a:endParaRPr lang="en-US" sz="1300" dirty="0"/>
          </a:p>
        </p:txBody>
      </p:sp>
      <p:pic>
        <p:nvPicPr>
          <p:cNvPr id="21" name="Image 0" descr="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777240"/>
            <a:ext cx="4800600" cy="5486400"/>
          </a:xfrm>
          <a:prstGeom prst="ellipse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DIFFERENTIATION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pod tiers, built from proven technology, in a wheelchair-first configuration nobody else offers.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98080" cy="1783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placed 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Shade, misting, wheelchair charging, solar 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streets, parks, everyday routes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+ device charging + fold-down desk + Wi-Fi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hubs, squares, high-dwell locations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4023360"/>
            <a:ext cx="7498080" cy="1508760"/>
          </a:xfrm>
          <a:prstGeom prst="rect">
            <a:avLst/>
          </a:prstGeom>
          <a:solidFill>
            <a:srgbClr val="EFE4C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4160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cooling solution co-designed with wheelchair users.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617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through ID Austria / CityGraz, so pods stay available for the people who need them and can't be vandalized or misused — a hard-to-copy control layer, not just a physical structure.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12480" y="1691640"/>
            <a:ext cx="0" cy="3840480"/>
          </a:xfrm>
          <a:prstGeom prst="line">
            <a:avLst/>
          </a:prstGeom>
          <a:noFill/>
          <a:ln w="12700">
            <a:solidFill>
              <a:srgbClr val="DED2B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work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Off-the-shelf misting &amp; solar tech — low technical risk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Insulated, weatherproof charging built for mobility aids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Credential-gated access, integrated with city ID systems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SAFETY RISK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next to electric charging is the obvious risk — here's how we design around it.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C169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electrical charging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920240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Misting system sits in a physically separate, sealed compartment from the charging outlet, with IP-rated (water-resistant) enclosures on all electrical components — standard practice in outdoor EV charging.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429000"/>
            <a:ext cx="457200" cy="457200"/>
          </a:xfrm>
          <a:prstGeom prst="ellipse">
            <a:avLst/>
          </a:prstGeom>
          <a:solidFill>
            <a:srgbClr val="C169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291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of the misting system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291840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Closed-loop, filtered water supply with scheduled maintenance, the same approach used in commercial public misting installations.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C169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634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approval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4663440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goes through standard certification and permitting (e.g. electrical safety, public-installation approval) before public deployment — not a novel regulatory category.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897880"/>
            <a:ext cx="10607040" cy="566928"/>
          </a:xfrm>
          <a:prstGeom prst="rect">
            <a:avLst/>
          </a:prstGeom>
          <a:solidFill>
            <a:srgbClr val="EFE4C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89788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assessment: no blocking technical risk identified. Full certification follows prototype fabrication.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earn through municipal service contracts — solar power keeps running costs near zero.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282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pod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7282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~€18,000 installed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72821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Fabrication, certification &amp; installation (see Financials)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C169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340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contract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7340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€2,500 / year / station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73405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maintenance &amp; access-credential management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3989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Plus-tier sponsorship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7398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install cost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73989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CSR partners (insurers, mobility-aid brands)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169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7457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Post-pilot user fee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7457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1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insurance-covered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74573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only once the pilot proves demand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REVENUE PROJECTION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usage assumptions are hypotheses — the pilot is designed to test them.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Per-pod hypothesis (to validate in the 3-month pilot)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user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61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time, per pod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210312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min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761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session length — a rest stop, not a destination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210312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TBD / day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761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rate — explicitly unvalidated, measured during pilot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3-year projection (illustrative, pending pilot data)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187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pilot pod (Graz)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contract + crowdfunding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640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pods (Graz + Freiberg/Chemnitz)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47640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contracts + CSR sponsorship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400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340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rollout, pending pilot results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53400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municipal contracts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0607040" cy="502920"/>
          </a:xfrm>
          <a:prstGeom prst="rect">
            <a:avLst/>
          </a:prstGeom>
          <a:solidFill>
            <a:srgbClr val="EFE4C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943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not present these as validated numbers — they're the hypothesis our pilot is designed to test.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GO-TO-MARKET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EU needs ~€70B/year in climate adaptation investment — we're entering through cities ready to act.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€70B / yr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072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climate-adaptation investment need through 2050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82880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912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221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38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8072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countries (EEA) with national heat-health action plans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182880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2219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pilot cities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0" y="280720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 &amp; Freiberg/Chemnitz — to test different municipal ID systems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393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European Commission adaptation investment needs report (2025); European Environment Agency (2024)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07408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074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Graz's disability &amp; accessibility office for the first pilot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937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impact over a 3-month pilot: usage, dwell time, user comfort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468112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4681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 second city (Freiberg/Chemnitz) to test a different municipal ID system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75320" y="4407408"/>
            <a:ext cx="2971800" cy="2057400"/>
          </a:xfrm>
          <a:prstGeom prst="rect">
            <a:avLst/>
          </a:prstGeom>
          <a:solidFill>
            <a:srgbClr val="EFE4C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5820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</a:t>
            </a:r>
            <a:endParaRPr lang="en-US" sz="1200" dirty="0"/>
          </a:p>
        </p:txBody>
      </p:sp>
      <p:pic>
        <p:nvPicPr>
          <p:cNvPr id="29" name="Image 0" descr="qr_tal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4773168"/>
            <a:ext cx="1298448" cy="129844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275320" y="610819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tally.so/r/7RGbPa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shade and misting solutions weren't designed for wheelchair users — we are.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607040" cy="31089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Wheelchair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misting stations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Green-roof bus shelters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cooling gear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9B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C169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CoolWheels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69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69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69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69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169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in ~30 seconds: every box CoolWheels fills is a box the alternatives leave empty.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international, cross-disciplinary team from the EURECA-PRO Deep Dive Intensive Course.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60520" y="4210908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5112" y="4485228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325112" y="44852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10328" y="4210908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Csermak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78577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952897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19528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1815737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Huzaifa Tasleem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9117" y="2135777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Innovation Officer at </a:t>
            </a:r>
            <a:r>
              <a:rPr lang="en-US" sz="1050" i="1" dirty="0" err="1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Dayholi</a:t>
            </a: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b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AustriaEx</a:t>
            </a: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Head of Operations at Hive Social, Sydney Australia Engineering &amp; Management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1678577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952897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25112" y="195289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10328" y="1815737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Eskandarian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10328" y="2191763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MDRS student(Mathematics for Data Science) TU Freiberg · Data Analyst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www.linkedin.com/in/mohamadsky19</a:t>
            </a:r>
            <a:endParaRPr lang="en-US" sz="1050" i="1" dirty="0">
              <a:solidFill>
                <a:srgbClr val="7A74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200"/>
              </a:lnSpc>
              <a:buNone/>
            </a:pPr>
            <a:endParaRPr lang="en-US" sz="1050" i="1" dirty="0">
              <a:solidFill>
                <a:srgbClr val="7A746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60520" y="2875298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3149618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25112" y="314961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910328" y="2875297"/>
            <a:ext cx="2542032" cy="5229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Mukkaram</a:t>
            </a:r>
            <a:r>
              <a:rPr lang="en-US" sz="14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Ejaz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862474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136794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1367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2925315"/>
            <a:ext cx="2542032" cy="45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Samira</a:t>
            </a:r>
            <a:r>
              <a:rPr lang="en-US" sz="9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Sadipishkamar</a:t>
            </a:r>
            <a:br>
              <a:rPr lang="en-US" sz="9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196455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470775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44707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298448" y="4196455"/>
            <a:ext cx="2542032" cy="63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Novoa M.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193922-8632-260D-6E1F-7A1E145D76F6}"/>
              </a:ext>
            </a:extLst>
          </p:cNvPr>
          <p:cNvSpPr txBox="1"/>
          <p:nvPr/>
        </p:nvSpPr>
        <p:spPr>
          <a:xfrm>
            <a:off x="1188721" y="3163777"/>
            <a:ext cx="2524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student.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Silesian University of Technology. </a:t>
            </a:r>
            <a:r>
              <a:rPr lang="en-US" sz="1050" i="1" dirty="0" err="1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Applicafion</a:t>
            </a: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Parametric design for Urban </a:t>
            </a:r>
            <a:r>
              <a:rPr lang="en-US" sz="1050" i="1" dirty="0" err="1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</a:t>
            </a: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Optimization.</a:t>
            </a:r>
            <a:br>
              <a:rPr lang="en-US" sz="60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6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465DBCC-4315-79EE-7023-59F6746986E9}"/>
              </a:ext>
            </a:extLst>
          </p:cNvPr>
          <p:cNvSpPr txBox="1"/>
          <p:nvPr/>
        </p:nvSpPr>
        <p:spPr>
          <a:xfrm>
            <a:off x="4824984" y="3252914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i="1" dirty="0">
                <a:solidFill>
                  <a:srgbClr val="7A7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scholar and Senior technical specialist at Silesian University of Technology Poland</a:t>
            </a:r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C73F0C2A-B513-EB45-4FE2-939D3AC34EC1}"/>
              </a:ext>
            </a:extLst>
          </p:cNvPr>
          <p:cNvSpPr/>
          <p:nvPr/>
        </p:nvSpPr>
        <p:spPr>
          <a:xfrm>
            <a:off x="548640" y="5324047"/>
            <a:ext cx="340156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2BC"/>
            </a:solidFill>
            <a:prstDash val="solid"/>
          </a:ln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D48A6418-7B34-598D-DF11-38E209DC3027}"/>
              </a:ext>
            </a:extLst>
          </p:cNvPr>
          <p:cNvSpPr/>
          <p:nvPr/>
        </p:nvSpPr>
        <p:spPr>
          <a:xfrm>
            <a:off x="713232" y="5598367"/>
            <a:ext cx="457200" cy="457200"/>
          </a:xfrm>
          <a:prstGeom prst="ellipse">
            <a:avLst/>
          </a:prstGeom>
          <a:solidFill>
            <a:srgbClr val="3E6B70"/>
          </a:solidFill>
          <a:ln/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85E9E05B-7AA1-4CBC-89B6-4CA99FE6500F}"/>
              </a:ext>
            </a:extLst>
          </p:cNvPr>
          <p:cNvSpPr txBox="1"/>
          <p:nvPr/>
        </p:nvSpPr>
        <p:spPr>
          <a:xfrm>
            <a:off x="713232" y="55983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B25D1177-2C7E-E3AC-C919-6F6FFB35D181}"/>
              </a:ext>
            </a:extLst>
          </p:cNvPr>
          <p:cNvSpPr txBox="1"/>
          <p:nvPr/>
        </p:nvSpPr>
        <p:spPr>
          <a:xfrm>
            <a:off x="1298448" y="5442919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Kote Gogo-Abbey</a:t>
            </a:r>
            <a:endParaRPr lang="en-US" sz="125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5E6310E-068A-877D-D215-75C1AC947EB5}"/>
              </a:ext>
            </a:extLst>
          </p:cNvPr>
          <p:cNvSpPr txBox="1"/>
          <p:nvPr/>
        </p:nvSpPr>
        <p:spPr>
          <a:xfrm>
            <a:off x="1298448" y="5753815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/ THE ASK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seeking €23,000 total — split between safety compliance and economic validation.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E6B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Compliance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€18,000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to code, insulated/weatherproof electrical components, certification &amp; permitting (electrical safety, public-installation approval).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97880" y="1874520"/>
            <a:ext cx="512064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169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1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Validation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€5,000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97180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4A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operations, usage/comfort data collection, landing page &amp; survey outreach, site-partnership admin costs.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736592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73659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partner &amp; site confirmed (Graz)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1208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fabricated, certified &amp; installed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87568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687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68756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pilot: usage, dwell time, comfort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163056"/>
            <a:ext cx="365760" cy="365760"/>
          </a:xfrm>
          <a:prstGeom prst="ellipse">
            <a:avLst/>
          </a:prstGeom>
          <a:solidFill>
            <a:srgbClr val="D79A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6163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616305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dirty="0">
                <a:solidFill>
                  <a:srgbClr val="2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decision on second-city expansion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309360"/>
            <a:ext cx="10607040" cy="91"/>
          </a:xfrm>
          <a:prstGeom prst="rect">
            <a:avLst/>
          </a:prstGeom>
          <a:ln/>
        </p:spPr>
      </p:sp>
      <p:sp>
        <p:nvSpPr>
          <p:cNvPr id="26" name="Text 24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169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CoolWheels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Reinrollen. Abkühlen. Weiterfahren.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D8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to cool down, charge up, and keep moving — built with wheelchair users, for wheelchair users.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7315200" cy="1965960"/>
          </a:xfrm>
          <a:prstGeom prst="rect">
            <a:avLst/>
          </a:prstGeom>
          <a:solidFill>
            <a:srgbClr val="332E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0965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pilot site: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tinyurl.com/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coolwheels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-pilot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feedback: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932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tally.so/r/7RGbPa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— Cooling Europe · EURECA-PRO Deep Dive Intensive Course 2026</a:t>
            </a:r>
            <a:endParaRPr lang="en-US" sz="1150" dirty="0"/>
          </a:p>
        </p:txBody>
      </p:sp>
      <p:pic>
        <p:nvPicPr>
          <p:cNvPr id="11" name="Image 0" descr="qr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160520"/>
            <a:ext cx="1417320" cy="1417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0" y="55961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C2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the live pilot site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1284</Words>
  <Application>Microsoft Office PowerPoint</Application>
  <PresentationFormat>Widescreen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Mohammad Eskandarian; </dc:title>
  <dc:subject>CoolWheels</dc:subject>
  <dc:creator>Mohammad Eskandarian</dc:creator>
  <cp:keywords>Group5</cp:keywords>
  <cp:lastModifiedBy>Mohamad Eskandarian</cp:lastModifiedBy>
  <cp:revision>7</cp:revision>
  <dcterms:created xsi:type="dcterms:W3CDTF">2026-10-02T04:15:54Z</dcterms:created>
  <dcterms:modified xsi:type="dcterms:W3CDTF">2026-10-08T12:50:43Z</dcterms:modified>
</cp:coreProperties>
</file>